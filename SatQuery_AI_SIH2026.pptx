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chin Mohite" userId="20c760fc03ba51e0" providerId="LiveId" clId="{B5FF31AA-4A80-44FD-B351-F7B4EE6E635B}"/>
    <pc:docChg chg="custSel modSld">
      <pc:chgData name="Sachin Mohite" userId="20c760fc03ba51e0" providerId="LiveId" clId="{B5FF31AA-4A80-44FD-B351-F7B4EE6E635B}" dt="2026-09-04T12:08:26.895" v="9" actId="478"/>
      <pc:docMkLst>
        <pc:docMk/>
      </pc:docMkLst>
      <pc:sldChg chg="addSp delSp modSp mod">
        <pc:chgData name="Sachin Mohite" userId="20c760fc03ba51e0" providerId="LiveId" clId="{B5FF31AA-4A80-44FD-B351-F7B4EE6E635B}" dt="2026-09-04T12:08:26.895" v="9" actId="478"/>
        <pc:sldMkLst>
          <pc:docMk/>
          <pc:sldMk cId="1588084416" sldId="297"/>
        </pc:sldMkLst>
        <pc:spChg chg="add del mod">
          <ac:chgData name="Sachin Mohite" userId="20c760fc03ba51e0" providerId="LiveId" clId="{B5FF31AA-4A80-44FD-B351-F7B4EE6E635B}" dt="2026-09-04T12:08:24.733" v="6" actId="478"/>
          <ac:spMkLst>
            <pc:docMk/>
            <pc:sldMk cId="1588084416" sldId="297"/>
            <ac:spMk id="2" creationId="{78B0D16A-6ABB-BEB2-68FD-03A98C910C19}"/>
          </ac:spMkLst>
        </pc:spChg>
        <pc:spChg chg="add del mod">
          <ac:chgData name="Sachin Mohite" userId="20c760fc03ba51e0" providerId="LiveId" clId="{B5FF31AA-4A80-44FD-B351-F7B4EE6E635B}" dt="2026-09-04T12:08:24.735" v="8"/>
          <ac:spMkLst>
            <pc:docMk/>
            <pc:sldMk cId="1588084416" sldId="297"/>
            <ac:spMk id="8" creationId="{DE42C8E8-2EB7-8A17-81DE-F1BE88D325F4}"/>
          </ac:spMkLst>
        </pc:spChg>
        <pc:spChg chg="add del">
          <ac:chgData name="Sachin Mohite" userId="20c760fc03ba51e0" providerId="LiveId" clId="{B5FF31AA-4A80-44FD-B351-F7B4EE6E635B}" dt="2026-09-04T12:08:26.895" v="9" actId="478"/>
          <ac:spMkLst>
            <pc:docMk/>
            <pc:sldMk cId="1588084416" sldId="297"/>
            <ac:spMk id="9" creationId="{1D921429-995A-ED32-3004-031BC646A53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 anchor="ctr"/>
          <a:lstStyle/>
          <a:p>
            <a:pPr algn="ctr"/>
            <a:r>
              <a:rPr sz="3000" b="1">
                <a:solidFill>
                  <a:srgbClr val="144169"/>
                </a:solidFill>
                <a:latin typeface="Aptos"/>
              </a:rPr>
              <a:t>SATQUERY AI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 wrap="square" anchor="ctr"/>
          <a:lstStyle/>
          <a:p>
            <a:pPr algn="ctr"/>
            <a:r>
              <a:rPr sz="2800" b="1" dirty="0">
                <a:solidFill>
                  <a:srgbClr val="141414"/>
                </a:solidFill>
                <a:latin typeface="Aptos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sz="1600" b="0" dirty="0">
                <a:solidFill>
                  <a:srgbClr val="232323"/>
                </a:solidFill>
                <a:latin typeface="Aptos"/>
              </a:rPr>
              <a:t>Problem Statement ID – 26167
Problem Statement Title – </a:t>
            </a:r>
            <a:r>
              <a:rPr sz="1600" b="0" dirty="0" err="1">
                <a:solidFill>
                  <a:srgbClr val="232323"/>
                </a:solidFill>
                <a:latin typeface="Aptos"/>
              </a:rPr>
              <a:t>SatQuery</a:t>
            </a:r>
            <a:r>
              <a:rPr sz="1600" b="0" dirty="0">
                <a:solidFill>
                  <a:srgbClr val="232323"/>
                </a:solidFill>
                <a:latin typeface="Aptos"/>
              </a:rPr>
              <a:t> AI - An Interactive Vision-Language Assistant for Multimodal Remote Sensing Image Analysis through Text Queries
Theme – Space Technology
PS Category – Software
Team ID – YOUR TEAM ID
Team Name – YOUR TEAM NAME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255836" y="5412119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144169"/>
                </a:solidFill>
                <a:latin typeface="Aptos"/>
              </a:rPr>
              <a:t>ASK SATELLITE DATA. GET GROUNDED INSIGHTS.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80760" y="2743200"/>
            <a:ext cx="123444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9466E"/>
                </a:solidFill>
                <a:latin typeface="Aptos"/>
              </a:rPr>
              <a:t>QUERY</a:t>
            </a:r>
          </a:p>
          <a:p>
            <a:pPr algn="ctr"/>
            <a:r>
              <a:rPr sz="1000">
                <a:solidFill>
                  <a:srgbClr val="2D2D2D"/>
                </a:solidFill>
                <a:latin typeface="Aptos"/>
              </a:rPr>
              <a:t>Natural language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7360920" y="3090672"/>
            <a:ext cx="320040" cy="228600"/>
          </a:xfrm>
          <a:prstGeom prst="rightArrow">
            <a:avLst/>
          </a:prstGeom>
          <a:solidFill>
            <a:srgbClr val="4B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699248" y="2743200"/>
            <a:ext cx="141732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9466E"/>
                </a:solidFill>
                <a:latin typeface="Aptos"/>
              </a:rPr>
              <a:t>UNDERSTAND</a:t>
            </a:r>
          </a:p>
          <a:p>
            <a:pPr algn="ctr"/>
            <a:r>
              <a:rPr sz="1000">
                <a:solidFill>
                  <a:srgbClr val="2D2D2D"/>
                </a:solidFill>
                <a:latin typeface="Aptos"/>
              </a:rPr>
              <a:t>Agentic task routing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9162288" y="3090672"/>
            <a:ext cx="320040" cy="228600"/>
          </a:xfrm>
          <a:prstGeom prst="rightArrow">
            <a:avLst/>
          </a:prstGeom>
          <a:solidFill>
            <a:srgbClr val="4B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500616" y="2743200"/>
            <a:ext cx="123444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9466E"/>
                </a:solidFill>
                <a:latin typeface="Aptos"/>
              </a:rPr>
              <a:t>ANALYZE</a:t>
            </a:r>
          </a:p>
          <a:p>
            <a:pPr algn="ctr"/>
            <a:r>
              <a:rPr sz="1000">
                <a:solidFill>
                  <a:srgbClr val="2D2D2D"/>
                </a:solidFill>
                <a:latin typeface="Aptos"/>
              </a:rPr>
              <a:t>RS specialist models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80899" y="4289407"/>
            <a:ext cx="452628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2D2D2D"/>
                </a:solidFill>
                <a:latin typeface="Aptos"/>
              </a:rPr>
              <a:t>Single image </a:t>
            </a:r>
            <a:endParaRPr lang="en-IN" sz="1400" b="0" dirty="0">
              <a:solidFill>
                <a:srgbClr val="2D2D2D"/>
              </a:solidFill>
              <a:latin typeface="Aptos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2D2D2D"/>
                </a:solidFill>
                <a:latin typeface="Aptos"/>
              </a:rPr>
              <a:t> Optical + SAR</a:t>
            </a:r>
            <a:endParaRPr lang="en-US" sz="1400" b="0" dirty="0">
              <a:solidFill>
                <a:srgbClr val="2D2D2D"/>
              </a:solidFill>
              <a:latin typeface="Aptos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2D2D2D"/>
                </a:solidFill>
                <a:latin typeface="Aptos"/>
              </a:rPr>
              <a:t> Before/After change Visual evidence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DF932B-4C58-0C29-7916-A1B5A06872FF}"/>
              </a:ext>
            </a:extLst>
          </p:cNvPr>
          <p:cNvSpPr txBox="1"/>
          <p:nvPr/>
        </p:nvSpPr>
        <p:spPr>
          <a:xfrm>
            <a:off x="7919920" y="4353133"/>
            <a:ext cx="45262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2D2D2D"/>
                </a:solidFill>
                <a:latin typeface="Aptos"/>
              </a:rPr>
              <a:t> •  Confidence </a:t>
            </a:r>
            <a:endParaRPr lang="en-IN" sz="1400" b="0" dirty="0">
              <a:solidFill>
                <a:srgbClr val="2D2D2D"/>
              </a:solidFill>
              <a:latin typeface="Aptos"/>
            </a:endParaRPr>
          </a:p>
          <a:p>
            <a:pPr algn="ctr"/>
            <a:r>
              <a:rPr sz="1400" b="0" dirty="0">
                <a:solidFill>
                  <a:srgbClr val="2D2D2D"/>
                </a:solidFill>
                <a:latin typeface="Aptos"/>
              </a:rPr>
              <a:t> •  Execution trace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anchor="t"/>
          <a:lstStyle/>
          <a:p>
            <a:pPr algn="ctr" eaLnBrk="1" hangingPunct="1"/>
            <a:r>
              <a:rPr sz="2500" b="1">
                <a:solidFill>
                  <a:srgbClr val="144169"/>
                </a:solidFill>
                <a:latin typeface="Aptos"/>
              </a:rPr>
              <a:t>SATQUERY AI — ASK. ANALYZE. EXPLAIN.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02920" y="2057400"/>
            <a:ext cx="1110996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sz="1200" b="1">
                <a:solidFill>
                  <a:srgbClr val="144169"/>
                </a:solidFill>
                <a:latin typeface="Aptos"/>
              </a:rPr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640080" y="13258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32323"/>
                </a:solidFill>
                <a:latin typeface="Aptos"/>
              </a:rPr>
              <a:t>Proposed Solution: An agentic, remote-sensing-adapted vision-language assistant that converts natural-language questions into evidence-grounded satellite insights.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85800" y="2057400"/>
            <a:ext cx="338328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9466E"/>
                </a:solidFill>
                <a:latin typeface="Aptos"/>
              </a:rPr>
              <a:t>1  UNDERSTAND</a:t>
            </a:r>
          </a:p>
          <a:p>
            <a:pPr algn="ctr"/>
            <a:r>
              <a:rPr sz="1100">
                <a:solidFill>
                  <a:srgbClr val="2D2D2D"/>
                </a:solidFill>
                <a:latin typeface="Aptos"/>
              </a:rPr>
              <a:t>Parse query + validate image count, modality, format and metadata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4407408" y="2057400"/>
            <a:ext cx="338328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9466E"/>
                </a:solidFill>
                <a:latin typeface="Aptos"/>
              </a:rPr>
              <a:t>2  ROUTE</a:t>
            </a:r>
          </a:p>
          <a:p>
            <a:pPr algn="ctr"/>
            <a:r>
              <a:rPr sz="1100">
                <a:solidFill>
                  <a:srgbClr val="2D2D2D"/>
                </a:solidFill>
                <a:latin typeface="Aptos"/>
              </a:rPr>
              <a:t>Select the right specialist workflow: VQA, grounding, change or optical–SAR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8129016" y="2057400"/>
            <a:ext cx="338328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9466E"/>
                </a:solidFill>
                <a:latin typeface="Aptos"/>
              </a:rPr>
              <a:t>3  EXPLAIN</a:t>
            </a:r>
          </a:p>
          <a:p>
            <a:pPr algn="ctr"/>
            <a:r>
              <a:rPr sz="1100">
                <a:solidFill>
                  <a:srgbClr val="2D2D2D"/>
                </a:solidFill>
                <a:latin typeface="Aptos"/>
              </a:rPr>
              <a:t>Fuse outputs into text + visual evidence + confidence + auditable trace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822960" y="3520440"/>
            <a:ext cx="5349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1E1E1E"/>
                </a:solidFill>
                <a:latin typeface="Aptos"/>
              </a:rPr>
              <a:t>How it addresses the problem</a:t>
            </a:r>
          </a:p>
          <a:p>
            <a:pPr>
              <a:spcAft>
                <a:spcPts val="5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• Single-image VQA + captioning / region grounding</a:t>
            </a:r>
          </a:p>
          <a:p>
            <a:pPr>
              <a:spcAft>
                <a:spcPts val="5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• Bi-temporal change understanding</a:t>
            </a:r>
          </a:p>
          <a:p>
            <a:pPr>
              <a:spcAft>
                <a:spcPts val="5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• Co-registered optical–SAR joint analysis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6309360" y="35204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1E1E1E"/>
                </a:solidFill>
                <a:latin typeface="Aptos"/>
              </a:rPr>
              <a:t>Innovation &amp; uniqueness</a:t>
            </a:r>
          </a:p>
          <a:p>
            <a:pPr>
              <a:spcAft>
                <a:spcPts val="5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• Query-driven model/tool orchestration — not one generic VLM</a:t>
            </a:r>
          </a:p>
          <a:p>
            <a:pPr>
              <a:spcAft>
                <a:spcPts val="5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• Remote-sensing adaptation using domain data</a:t>
            </a:r>
          </a:p>
          <a:p>
            <a:pPr>
              <a:spcAft>
                <a:spcPts val="5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• Evidence-grounded answers with visible execution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ctr" eaLnBrk="1" hangingPunct="1"/>
            <a:r>
              <a:rPr sz="2500" b="1">
                <a:solidFill>
                  <a:srgbClr val="144169"/>
                </a:solidFill>
                <a:latin typeface="Aptos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sz="1200" b="1">
                <a:solidFill>
                  <a:srgbClr val="144169"/>
                </a:solidFill>
                <a:latin typeface="Aptos"/>
              </a:rPr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40080" y="10972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4169"/>
                </a:solidFill>
                <a:latin typeface="Aptos"/>
              </a:rPr>
              <a:t>Technology Stack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554480"/>
            <a:ext cx="214884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9466E"/>
                </a:solidFill>
                <a:latin typeface="Aptos"/>
              </a:rPr>
              <a:t>Frontend</a:t>
            </a:r>
          </a:p>
          <a:p>
            <a:pPr algn="ctr"/>
            <a:r>
              <a:rPr sz="1000">
                <a:solidFill>
                  <a:srgbClr val="2D2D2D"/>
                </a:solidFill>
                <a:latin typeface="Aptos"/>
              </a:rPr>
              <a:t>React / Web UI
Leaflet or Mapbox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880360" y="1554480"/>
            <a:ext cx="214884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9466E"/>
                </a:solidFill>
                <a:latin typeface="Aptos"/>
              </a:rPr>
              <a:t>API</a:t>
            </a:r>
          </a:p>
          <a:p>
            <a:pPr algn="ctr"/>
            <a:r>
              <a:rPr sz="1000">
                <a:solidFill>
                  <a:srgbClr val="2D2D2D"/>
                </a:solidFill>
                <a:latin typeface="Aptos"/>
              </a:rPr>
              <a:t>Python
FastAPI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166360" y="1554480"/>
            <a:ext cx="214884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9466E"/>
                </a:solidFill>
                <a:latin typeface="Aptos"/>
              </a:rPr>
              <a:t>AI / ML</a:t>
            </a:r>
          </a:p>
          <a:p>
            <a:pPr algn="ctr"/>
            <a:r>
              <a:rPr sz="1000">
                <a:solidFill>
                  <a:srgbClr val="2D2D2D"/>
                </a:solidFill>
                <a:latin typeface="Aptos"/>
              </a:rPr>
              <a:t>PyTorch
Hugging Face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7452360" y="1554480"/>
            <a:ext cx="214884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9466E"/>
                </a:solidFill>
                <a:latin typeface="Aptos"/>
              </a:rPr>
              <a:t>Geo</a:t>
            </a:r>
          </a:p>
          <a:p>
            <a:pPr algn="ctr"/>
            <a:r>
              <a:rPr sz="1000">
                <a:solidFill>
                  <a:srgbClr val="2D2D2D"/>
                </a:solidFill>
                <a:latin typeface="Aptos"/>
              </a:rPr>
              <a:t>GeoPandas
Rasterio / PostGIS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9738360" y="1554480"/>
            <a:ext cx="214884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9466E"/>
                </a:solidFill>
                <a:latin typeface="Aptos"/>
              </a:rPr>
              <a:t>Data</a:t>
            </a:r>
          </a:p>
          <a:p>
            <a:pPr algn="ctr"/>
            <a:r>
              <a:rPr sz="1000">
                <a:solidFill>
                  <a:srgbClr val="2D2D2D"/>
                </a:solidFill>
                <a:latin typeface="Aptos"/>
              </a:rPr>
              <a:t>GeoTIFF / TIFF
STAC-compatible assets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40080" y="26974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4169"/>
                </a:solidFill>
                <a:latin typeface="Aptos"/>
              </a:rPr>
              <a:t>Implementation Methodology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02920" y="3200400"/>
            <a:ext cx="169164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9466E"/>
                </a:solidFill>
                <a:latin typeface="Aptos"/>
              </a:rPr>
              <a:t>USER QUERY</a:t>
            </a:r>
          </a:p>
          <a:p>
            <a:pPr algn="ctr"/>
            <a:r>
              <a:rPr sz="900">
                <a:solidFill>
                  <a:srgbClr val="2D2D2D"/>
                </a:solidFill>
                <a:latin typeface="Aptos"/>
              </a:rPr>
              <a:t>Natural language</a:t>
            </a:r>
          </a:p>
        </p:txBody>
      </p:sp>
      <p:sp>
        <p:nvSpPr>
          <p:cNvPr id="17419" name="Right Arrow 17418"/>
          <p:cNvSpPr/>
          <p:nvPr/>
        </p:nvSpPr>
        <p:spPr>
          <a:xfrm>
            <a:off x="2221991" y="3547872"/>
            <a:ext cx="201168" cy="201168"/>
          </a:xfrm>
          <a:prstGeom prst="rightArrow">
            <a:avLst/>
          </a:prstGeom>
          <a:solidFill>
            <a:srgbClr val="4B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Rounded Rectangle 17419"/>
          <p:cNvSpPr/>
          <p:nvPr/>
        </p:nvSpPr>
        <p:spPr>
          <a:xfrm>
            <a:off x="2404872" y="3200400"/>
            <a:ext cx="169164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9466E"/>
                </a:solidFill>
                <a:latin typeface="Aptos"/>
              </a:rPr>
              <a:t>INTENT</a:t>
            </a:r>
          </a:p>
          <a:p>
            <a:pPr algn="ctr"/>
            <a:r>
              <a:rPr sz="900">
                <a:solidFill>
                  <a:srgbClr val="2D2D2D"/>
                </a:solidFill>
                <a:latin typeface="Aptos"/>
              </a:rPr>
              <a:t>Task + constraints</a:t>
            </a:r>
          </a:p>
        </p:txBody>
      </p:sp>
      <p:sp>
        <p:nvSpPr>
          <p:cNvPr id="17421" name="Right Arrow 17420"/>
          <p:cNvSpPr/>
          <p:nvPr/>
        </p:nvSpPr>
        <p:spPr>
          <a:xfrm>
            <a:off x="4123944" y="3547872"/>
            <a:ext cx="201168" cy="201168"/>
          </a:xfrm>
          <a:prstGeom prst="rightArrow">
            <a:avLst/>
          </a:prstGeom>
          <a:solidFill>
            <a:srgbClr val="4B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Rounded Rectangle 17421"/>
          <p:cNvSpPr/>
          <p:nvPr/>
        </p:nvSpPr>
        <p:spPr>
          <a:xfrm>
            <a:off x="4306824" y="3200400"/>
            <a:ext cx="169164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9466E"/>
                </a:solidFill>
                <a:latin typeface="Aptos"/>
              </a:rPr>
              <a:t>VALIDATE</a:t>
            </a:r>
          </a:p>
          <a:p>
            <a:pPr algn="ctr"/>
            <a:r>
              <a:rPr sz="900">
                <a:solidFill>
                  <a:srgbClr val="2D2D2D"/>
                </a:solidFill>
                <a:latin typeface="Aptos"/>
              </a:rPr>
              <a:t>Image / metadata</a:t>
            </a:r>
          </a:p>
        </p:txBody>
      </p:sp>
      <p:sp>
        <p:nvSpPr>
          <p:cNvPr id="17423" name="Right Arrow 17422"/>
          <p:cNvSpPr/>
          <p:nvPr/>
        </p:nvSpPr>
        <p:spPr>
          <a:xfrm>
            <a:off x="6025896" y="3547872"/>
            <a:ext cx="201168" cy="201168"/>
          </a:xfrm>
          <a:prstGeom prst="rightArrow">
            <a:avLst/>
          </a:prstGeom>
          <a:solidFill>
            <a:srgbClr val="4B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Rounded Rectangle 17423"/>
          <p:cNvSpPr/>
          <p:nvPr/>
        </p:nvSpPr>
        <p:spPr>
          <a:xfrm>
            <a:off x="6208776" y="3200400"/>
            <a:ext cx="169164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9466E"/>
                </a:solidFill>
                <a:latin typeface="Aptos"/>
              </a:rPr>
              <a:t>ROUTE</a:t>
            </a:r>
          </a:p>
          <a:p>
            <a:pPr algn="ctr"/>
            <a:r>
              <a:rPr sz="900">
                <a:solidFill>
                  <a:srgbClr val="2D2D2D"/>
                </a:solidFill>
                <a:latin typeface="Aptos"/>
              </a:rPr>
              <a:t>Specialist model</a:t>
            </a:r>
          </a:p>
        </p:txBody>
      </p:sp>
      <p:sp>
        <p:nvSpPr>
          <p:cNvPr id="17425" name="Right Arrow 17424"/>
          <p:cNvSpPr/>
          <p:nvPr/>
        </p:nvSpPr>
        <p:spPr>
          <a:xfrm>
            <a:off x="7927848" y="3547872"/>
            <a:ext cx="201168" cy="201168"/>
          </a:xfrm>
          <a:prstGeom prst="rightArrow">
            <a:avLst/>
          </a:prstGeom>
          <a:solidFill>
            <a:srgbClr val="4B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Rounded Rectangle 17425"/>
          <p:cNvSpPr/>
          <p:nvPr/>
        </p:nvSpPr>
        <p:spPr>
          <a:xfrm>
            <a:off x="8110728" y="3200400"/>
            <a:ext cx="169164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9466E"/>
                </a:solidFill>
                <a:latin typeface="Aptos"/>
              </a:rPr>
              <a:t>FUSE</a:t>
            </a:r>
          </a:p>
          <a:p>
            <a:pPr algn="ctr"/>
            <a:r>
              <a:rPr sz="900">
                <a:solidFill>
                  <a:srgbClr val="2D2D2D"/>
                </a:solidFill>
                <a:latin typeface="Aptos"/>
              </a:rPr>
              <a:t>Text + spatial</a:t>
            </a:r>
          </a:p>
        </p:txBody>
      </p:sp>
      <p:sp>
        <p:nvSpPr>
          <p:cNvPr id="17427" name="Right Arrow 17426"/>
          <p:cNvSpPr/>
          <p:nvPr/>
        </p:nvSpPr>
        <p:spPr>
          <a:xfrm>
            <a:off x="9829800" y="3547872"/>
            <a:ext cx="201168" cy="201168"/>
          </a:xfrm>
          <a:prstGeom prst="rightArrow">
            <a:avLst/>
          </a:prstGeom>
          <a:solidFill>
            <a:srgbClr val="4B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Rounded Rectangle 17427"/>
          <p:cNvSpPr/>
          <p:nvPr/>
        </p:nvSpPr>
        <p:spPr>
          <a:xfrm>
            <a:off x="10012680" y="3200400"/>
            <a:ext cx="169164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9466E"/>
                </a:solidFill>
                <a:latin typeface="Aptos"/>
              </a:rPr>
              <a:t>REPORT</a:t>
            </a:r>
          </a:p>
          <a:p>
            <a:pPr algn="ctr"/>
            <a:r>
              <a:rPr sz="900">
                <a:solidFill>
                  <a:srgbClr val="2D2D2D"/>
                </a:solidFill>
                <a:latin typeface="Aptos"/>
              </a:rPr>
              <a:t>Evidence + confidence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822960" y="443484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D2D2D"/>
                </a:solidFill>
                <a:latin typeface="Aptos"/>
              </a:rPr>
              <a:t>Specialist workflows:  Single-image VQA  |  Captioning / grounding  |  Change detection &amp; change-VQA  |  Optical–SAR fusion
Evaluation-ready datasets: BigEarthNet • VRSBench • RSVQA • CDVQA • ISRO/SAC evaluation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ctr" eaLnBrk="1" hangingPunct="1"/>
            <a:r>
              <a:rPr sz="2500" b="1">
                <a:solidFill>
                  <a:srgbClr val="144169"/>
                </a:solidFill>
                <a:latin typeface="Aptos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sz="1200" b="1">
                <a:solidFill>
                  <a:srgbClr val="144169"/>
                </a:solidFill>
                <a:latin typeface="Aptos"/>
              </a:rPr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40080" y="1325880"/>
            <a:ext cx="342900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9466E"/>
                </a:solidFill>
                <a:latin typeface="Aptos"/>
              </a:rPr>
              <a:t>FEASIBLE</a:t>
            </a:r>
          </a:p>
          <a:p>
            <a:pPr algn="ctr"/>
            <a:r>
              <a:rPr sz="1100">
                <a:solidFill>
                  <a:srgbClr val="2D2D2D"/>
                </a:solidFill>
                <a:latin typeface="Aptos"/>
              </a:rPr>
              <a:t>Open benchmarks + domain datasets
Modular specialist-model design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389120" y="1325880"/>
            <a:ext cx="342900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9466E"/>
                </a:solidFill>
                <a:latin typeface="Aptos"/>
              </a:rPr>
              <a:t>SCALABLE</a:t>
            </a:r>
          </a:p>
          <a:p>
            <a:pPr algn="ctr"/>
            <a:r>
              <a:rPr sz="1100">
                <a:solidFill>
                  <a:srgbClr val="2D2D2D"/>
                </a:solidFill>
                <a:latin typeface="Aptos"/>
              </a:rPr>
              <a:t>Model registry allows new RS tools
to be added without redesigning the UI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138160" y="1325880"/>
            <a:ext cx="342900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9466E"/>
                </a:solidFill>
                <a:latin typeface="Aptos"/>
              </a:rPr>
              <a:t>DEPLOYABLE</a:t>
            </a:r>
          </a:p>
          <a:p>
            <a:pPr algn="ctr"/>
            <a:r>
              <a:rPr sz="1100">
                <a:solidFill>
                  <a:srgbClr val="2D2D2D"/>
                </a:solidFill>
                <a:latin typeface="Aptos"/>
              </a:rPr>
              <a:t>Web application + API backend
Can integrate approved ISRO data services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31520" y="2788920"/>
            <a:ext cx="52120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1E1E1E"/>
                </a:solidFill>
                <a:latin typeface="Aptos"/>
              </a:rPr>
              <a:t>Potential challenges &amp; risks</a:t>
            </a:r>
          </a:p>
          <a:p>
            <a:pPr>
              <a:spcAft>
                <a:spcPts val="5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• Large remote-sensing models can be compute-intensive</a:t>
            </a:r>
          </a:p>
          <a:p>
            <a:pPr>
              <a:spcAft>
                <a:spcPts val="5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• Optical and SAR have different characteristics</a:t>
            </a:r>
          </a:p>
          <a:p>
            <a:pPr>
              <a:spcAft>
                <a:spcPts val="5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• Geospatial inputs require strict compatibility checks</a:t>
            </a:r>
          </a:p>
          <a:p>
            <a:pPr>
              <a:spcAft>
                <a:spcPts val="5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• Model outputs may be uncertain or inconsistent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172200" y="2788920"/>
            <a:ext cx="51663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1E1E1E"/>
                </a:solidFill>
                <a:latin typeface="Aptos"/>
              </a:rPr>
              <a:t>Strategies to overcome</a:t>
            </a:r>
          </a:p>
          <a:p>
            <a:pPr>
              <a:spcAft>
                <a:spcPts val="5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• Use lightweight / quantized inference where appropriate</a:t>
            </a:r>
          </a:p>
          <a:p>
            <a:pPr>
              <a:spcAft>
                <a:spcPts val="5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• Use modality-aware specialist routing and fusion</a:t>
            </a:r>
          </a:p>
          <a:p>
            <a:pPr>
              <a:spcAft>
                <a:spcPts val="5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• Validate format, CRS, metadata and co-registration</a:t>
            </a:r>
          </a:p>
          <a:p>
            <a:pPr>
              <a:spcAft>
                <a:spcPts val="5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t>• Return confidence, visual evidence and execution trace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4169"/>
                </a:solidFill>
                <a:latin typeface="Aptos"/>
              </a:rPr>
              <a:t>Key design principle: modular AI agents + auditable outputs → easier testing, replacement and future ISRO integration.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ctr" eaLnBrk="1" hangingPunct="1"/>
            <a:r>
              <a:rPr sz="2500" b="1">
                <a:solidFill>
                  <a:srgbClr val="144169"/>
                </a:solidFill>
                <a:latin typeface="Aptos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sz="1200" b="1">
                <a:solidFill>
                  <a:srgbClr val="144169"/>
                </a:solidFill>
                <a:latin typeface="Aptos"/>
              </a:rPr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40080" y="1325880"/>
            <a:ext cx="3429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9466E"/>
                </a:solidFill>
                <a:latin typeface="Aptos"/>
              </a:rPr>
              <a:t>FOR ISRO</a:t>
            </a:r>
          </a:p>
          <a:p>
            <a:pPr algn="ctr"/>
            <a:r>
              <a:rPr sz="1100">
                <a:solidFill>
                  <a:srgbClr val="2D2D2D"/>
                </a:solidFill>
                <a:latin typeface="Aptos"/>
              </a:rPr>
              <a:t>Faster exploration of Earth-observation data
Lower dependence on manual GIS workflows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389120" y="1325880"/>
            <a:ext cx="3429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9466E"/>
                </a:solidFill>
                <a:latin typeface="Aptos"/>
              </a:rPr>
              <a:t>FOR EXPERTS</a:t>
            </a:r>
          </a:p>
          <a:p>
            <a:pPr algn="ctr"/>
            <a:r>
              <a:rPr sz="1100">
                <a:solidFill>
                  <a:srgbClr val="2D2D2D"/>
                </a:solidFill>
                <a:latin typeface="Aptos"/>
              </a:rPr>
              <a:t>Natural-language access to complex analysis
Evidence + confidence for faster decisions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138160" y="1325880"/>
            <a:ext cx="3429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9466E"/>
                </a:solidFill>
                <a:latin typeface="Aptos"/>
              </a:rPr>
              <a:t>FOR USERS</a:t>
            </a:r>
          </a:p>
          <a:p>
            <a:pPr algn="ctr"/>
            <a:r>
              <a:rPr sz="1100">
                <a:solidFill>
                  <a:srgbClr val="2D2D2D"/>
                </a:solidFill>
                <a:latin typeface="Aptos"/>
              </a:rPr>
              <a:t>One interface for multiple satellite tasks
Readable answers instead of raw imagery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31520" y="27432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4169"/>
                </a:solidFill>
                <a:latin typeface="Aptos"/>
              </a:rPr>
              <a:t>High-Value Use Cases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94360" y="3246120"/>
            <a:ext cx="173736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9466E"/>
                </a:solidFill>
                <a:latin typeface="Aptos"/>
              </a:rPr>
              <a:t>AGRICULTURE</a:t>
            </a:r>
          </a:p>
          <a:p>
            <a:pPr algn="ctr"/>
            <a:r>
              <a:rPr sz="900">
                <a:solidFill>
                  <a:srgbClr val="2D2D2D"/>
                </a:solidFill>
                <a:latin typeface="Aptos"/>
              </a:rPr>
              <a:t>crop / land monitoring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496312" y="3246120"/>
            <a:ext cx="173736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9466E"/>
                </a:solidFill>
                <a:latin typeface="Aptos"/>
              </a:rPr>
              <a:t>DISASTER</a:t>
            </a:r>
          </a:p>
          <a:p>
            <a:pPr algn="ctr"/>
            <a:r>
              <a:rPr sz="900">
                <a:solidFill>
                  <a:srgbClr val="2D2D2D"/>
                </a:solidFill>
                <a:latin typeface="Aptos"/>
              </a:rPr>
              <a:t>flood &amp; change assessment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398264" y="3246120"/>
            <a:ext cx="173736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9466E"/>
                </a:solidFill>
                <a:latin typeface="Aptos"/>
              </a:rPr>
              <a:t>URBAN</a:t>
            </a:r>
          </a:p>
          <a:p>
            <a:pPr algn="ctr"/>
            <a:r>
              <a:rPr sz="900">
                <a:solidFill>
                  <a:srgbClr val="2D2D2D"/>
                </a:solidFill>
                <a:latin typeface="Aptos"/>
              </a:rPr>
              <a:t>built-up growth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300216" y="3246120"/>
            <a:ext cx="173736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9466E"/>
                </a:solidFill>
                <a:latin typeface="Aptos"/>
              </a:rPr>
              <a:t>WATER</a:t>
            </a:r>
          </a:p>
          <a:p>
            <a:pPr algn="ctr"/>
            <a:r>
              <a:rPr sz="900">
                <a:solidFill>
                  <a:srgbClr val="2D2D2D"/>
                </a:solidFill>
                <a:latin typeface="Aptos"/>
              </a:rPr>
              <a:t>water-resource analysis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8202168" y="3246120"/>
            <a:ext cx="173736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9466E"/>
                </a:solidFill>
                <a:latin typeface="Aptos"/>
              </a:rPr>
              <a:t>FOREST</a:t>
            </a:r>
          </a:p>
          <a:p>
            <a:pPr algn="ctr"/>
            <a:r>
              <a:rPr sz="900">
                <a:solidFill>
                  <a:srgbClr val="2D2D2D"/>
                </a:solidFill>
                <a:latin typeface="Aptos"/>
              </a:rPr>
              <a:t>cover &amp; disturbance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10104120" y="3246120"/>
            <a:ext cx="173736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9466E"/>
                </a:solidFill>
                <a:latin typeface="Aptos"/>
              </a:rPr>
              <a:t>INFRA</a:t>
            </a:r>
          </a:p>
          <a:p>
            <a:pPr algn="ctr"/>
            <a:r>
              <a:rPr sz="900">
                <a:solidFill>
                  <a:srgbClr val="2D2D2D"/>
                </a:solidFill>
                <a:latin typeface="Aptos"/>
              </a:rPr>
              <a:t>asset / site mapping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914400" y="448056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1E1E1E"/>
                </a:solidFill>
                <a:latin typeface="Aptos"/>
              </a:rPr>
              <a:t>Broader benefits</a:t>
            </a:r>
          </a:p>
          <a:p>
            <a:pPr>
              <a:spcAft>
                <a:spcPts val="500"/>
              </a:spcAft>
              <a:defRPr sz="1250">
                <a:solidFill>
                  <a:srgbClr val="1E1E1E"/>
                </a:solidFill>
                <a:latin typeface="Aptos"/>
              </a:defRPr>
            </a:pPr>
            <a:r>
              <a:t>• Social: faster disaster and environmental assessment</a:t>
            </a:r>
          </a:p>
          <a:p>
            <a:pPr>
              <a:spcAft>
                <a:spcPts val="500"/>
              </a:spcAft>
              <a:defRPr sz="1250">
                <a:solidFill>
                  <a:srgbClr val="1E1E1E"/>
                </a:solidFill>
                <a:latin typeface="Aptos"/>
              </a:defRPr>
            </a:pPr>
            <a:r>
              <a:t>• Economic: reduces analyst time and repetitive GIS processing</a:t>
            </a:r>
          </a:p>
          <a:p>
            <a:pPr>
              <a:spcAft>
                <a:spcPts val="500"/>
              </a:spcAft>
              <a:defRPr sz="1250">
                <a:solidFill>
                  <a:srgbClr val="1E1E1E"/>
                </a:solidFill>
                <a:latin typeface="Aptos"/>
              </a:defRPr>
            </a:pPr>
            <a:r>
              <a:t>• Environmental: supports monitoring of land, water, forests and urban expansion</a:t>
            </a:r>
          </a:p>
          <a:p>
            <a:pPr>
              <a:spcAft>
                <a:spcPts val="500"/>
              </a:spcAft>
              <a:defRPr sz="1250">
                <a:solidFill>
                  <a:srgbClr val="1E1E1E"/>
                </a:solidFill>
                <a:latin typeface="Aptos"/>
              </a:defRPr>
            </a:pPr>
            <a:r>
              <a:t>• Strategic: makes India's Earth-observation intelligence more accessible and auditable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ctr" eaLnBrk="1" hangingPunct="1"/>
            <a:r>
              <a:rPr sz="2500" b="1">
                <a:solidFill>
                  <a:srgbClr val="144169"/>
                </a:solidFill>
                <a:latin typeface="Aptos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sz="1200" b="1">
                <a:solidFill>
                  <a:srgbClr val="144169"/>
                </a:solidFill>
                <a:latin typeface="Aptos"/>
              </a:rPr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85800" y="1234440"/>
            <a:ext cx="1083564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9466E"/>
                </a:solidFill>
                <a:latin typeface="Aptos"/>
              </a:rPr>
              <a:t>1. SIH 2026 — Problem Statement 26167</a:t>
            </a:r>
          </a:p>
          <a:p>
            <a:pPr algn="ctr"/>
            <a:r>
              <a:rPr sz="950">
                <a:solidFill>
                  <a:srgbClr val="2D2D2D"/>
                </a:solidFill>
                <a:latin typeface="Aptos"/>
              </a:rPr>
              <a:t>SatQuery AI requirements, mandatory tasks, input scope and evaluation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85800" y="1984248"/>
            <a:ext cx="1083564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9466E"/>
                </a:solidFill>
                <a:latin typeface="Aptos"/>
              </a:rPr>
              <a:t>2. ISRO / Department of Space</a:t>
            </a:r>
          </a:p>
          <a:p>
            <a:pPr algn="ctr"/>
            <a:r>
              <a:rPr sz="950">
                <a:solidFill>
                  <a:srgbClr val="2D2D2D"/>
                </a:solidFill>
                <a:latin typeface="Aptos"/>
              </a:rPr>
              <a:t>Problem-statement authority and target ecosystem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85800" y="2734056"/>
            <a:ext cx="1083564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9466E"/>
                </a:solidFill>
                <a:latin typeface="Aptos"/>
              </a:rPr>
              <a:t>3. BigEarthNet</a:t>
            </a:r>
          </a:p>
          <a:p>
            <a:pPr algn="ctr"/>
            <a:r>
              <a:rPr sz="950">
                <a:solidFill>
                  <a:srgbClr val="2D2D2D"/>
                </a:solidFill>
                <a:latin typeface="Aptos"/>
              </a:rPr>
              <a:t>Remote-sensing image–text / multisensor adaptation dataset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85800" y="3483863"/>
            <a:ext cx="1083564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9466E"/>
                </a:solidFill>
                <a:latin typeface="Aptos"/>
              </a:rPr>
              <a:t>4. VRSBench + RSVQA</a:t>
            </a:r>
          </a:p>
          <a:p>
            <a:pPr algn="ctr"/>
            <a:r>
              <a:rPr sz="950">
                <a:solidFill>
                  <a:srgbClr val="2D2D2D"/>
                </a:solidFill>
                <a:latin typeface="Aptos"/>
              </a:rPr>
              <a:t>Single-image captioning, grounding and visual question answering evaluation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85800" y="4233672"/>
            <a:ext cx="1083564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9466E"/>
                </a:solidFill>
                <a:latin typeface="Aptos"/>
              </a:rPr>
              <a:t>5. CDVQA</a:t>
            </a:r>
          </a:p>
          <a:p>
            <a:pPr algn="ctr"/>
            <a:r>
              <a:rPr sz="950">
                <a:solidFill>
                  <a:srgbClr val="2D2D2D"/>
                </a:solidFill>
                <a:latin typeface="Aptos"/>
              </a:rPr>
              <a:t>Multitemporal change-based visual question answering evaluation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85800" y="4983480"/>
            <a:ext cx="10835640" cy="621792"/>
          </a:xfrm>
          <a:prstGeom prst="roundRect">
            <a:avLst/>
          </a:prstGeom>
          <a:solidFill>
            <a:srgbClr val="F8FAFC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9466E"/>
                </a:solidFill>
                <a:latin typeface="Aptos"/>
              </a:rPr>
              <a:t>6. GeoTIFF / STAC / PostGIS ecosystem</a:t>
            </a:r>
          </a:p>
          <a:p>
            <a:pPr algn="ctr"/>
            <a:r>
              <a:rPr sz="950">
                <a:solidFill>
                  <a:srgbClr val="2D2D2D"/>
                </a:solidFill>
                <a:latin typeface="Aptos"/>
              </a:rPr>
              <a:t>Geospatial data handling, cataloguing and spatial persistence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31520" y="57150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464646"/>
                </a:solidFill>
                <a:latin typeface="Aptos"/>
              </a:rPr>
              <a:t>Primary requirement source: SIH 2026 PS-26167 • Research sources should be linked/verified in the final submission PDF.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7613</TotalTime>
  <Words>720</Words>
  <Application>Microsoft Office PowerPoint</Application>
  <PresentationFormat>Widescreen</PresentationFormat>
  <Paragraphs>134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Aptos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SATQUERY AI — ASK. ANALYZE. EXPLAIN.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Sachin Mohite</cp:lastModifiedBy>
  <cp:revision>149</cp:revision>
  <dcterms:created xsi:type="dcterms:W3CDTF">2013-12-12T18:46:50Z</dcterms:created>
  <dcterms:modified xsi:type="dcterms:W3CDTF">2026-09-08T16:54:32Z</dcterms:modified>
  <cp:category/>
</cp:coreProperties>
</file>